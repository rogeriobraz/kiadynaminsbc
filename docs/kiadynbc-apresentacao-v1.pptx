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KiaDynBC — NFMS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7FD0D4"/>
                </a:solidFill>
                <a:latin typeface="Segoe UI"/>
              </a:rPr>
              <a:t>Gestão completa de frota e leasing veicular no Dynamics 365 Business Central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14800"/>
            <a:ext cx="2377440" cy="384048"/>
          </a:xfrm>
          <a:prstGeom prst="roundRect">
            <a:avLst/>
          </a:prstGeom>
          <a:solidFill>
            <a:srgbClr val="7F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D1B3A"/>
                </a:solidFill>
                <a:latin typeface="Segoe UI"/>
              </a:rPr>
              <a:t>APP AL — BC29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4114800"/>
            <a:ext cx="2377440" cy="384048"/>
          </a:xfrm>
          <a:prstGeom prst="roundRect">
            <a:avLst/>
          </a:prstGeom>
          <a:solidFill>
            <a:srgbClr val="7F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D1B3A"/>
                </a:solidFill>
                <a:latin typeface="Segoe UI"/>
              </a:rPr>
              <a:t>BR + AR na mesma 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4114800"/>
            <a:ext cx="2651760" cy="384048"/>
          </a:xfrm>
          <a:prstGeom prst="roundRect">
            <a:avLst/>
          </a:prstGeom>
          <a:solidFill>
            <a:srgbClr val="7F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D1B3A"/>
                </a:solidFill>
                <a:latin typeface="Segoe UI"/>
              </a:rPr>
              <a:t>v1.1.0.6 — 26/10/2026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2D4"/>
                </a:solidFill>
                <a:latin typeface="Segoe UI"/>
              </a:rPr>
              <a:t>RSBTech · Desenvolvimento em AL · Especificação KINTO/AlfaPeople D1-D8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D1B3A"/>
                </a:solidFill>
                <a:latin typeface="Segoe UI"/>
              </a:rPr>
              <a:t>O problema que resolve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D1B3A"/>
                </a:solidFill>
                <a:latin typeface="Segoe UI"/>
              </a:rPr>
              <a:t>Operação fragmentada</a:t>
            </a:r>
            <a:r>
              <a:rPr sz="1700">
                <a:solidFill>
                  <a:srgbClr val="444A55"/>
                </a:solidFill>
                <a:latin typeface="Segoe UI"/>
              </a:rPr>
              <a:t>  — cotação, contrato, manutenção, multas, terminação e remarketing em planilhas e sistemas separados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D1B3A"/>
                </a:solidFill>
                <a:latin typeface="Segoe UI"/>
              </a:rPr>
              <a:t>Custo por veículo invisível</a:t>
            </a:r>
            <a:r>
              <a:rPr sz="1700">
                <a:solidFill>
                  <a:srgbClr val="444A55"/>
                </a:solidFill>
                <a:latin typeface="Segoe UI"/>
              </a:rPr>
              <a:t>  — sem visão do resultado por contrato/placa em tempo real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D1B3A"/>
                </a:solidFill>
                <a:latin typeface="Segoe UI"/>
              </a:rPr>
              <a:t>Multas e sinistros manuais</a:t>
            </a:r>
            <a:r>
              <a:rPr sz="1700">
                <a:solidFill>
                  <a:srgbClr val="444A55"/>
                </a:solidFill>
                <a:latin typeface="Segoe UI"/>
              </a:rPr>
              <a:t>  — ingestão externa, vínculo por data de custódia e cobrança ao cliente feitos à mão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D1B3A"/>
                </a:solidFill>
                <a:latin typeface="Segoe UI"/>
              </a:rPr>
              <a:t>Frota sem ciclo de vida</a:t>
            </a:r>
            <a:r>
              <a:rPr sz="1700">
                <a:solidFill>
                  <a:srgbClr val="444A55"/>
                </a:solidFill>
                <a:latin typeface="Segoe UI"/>
              </a:rPr>
              <a:t>  — histórico do ativo, dispositivos telemáticos e baixa sem rastreio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120640"/>
            <a:ext cx="10515600" cy="1097280"/>
          </a:xfrm>
          <a:prstGeom prst="roundRect">
            <a:avLst/>
          </a:prstGeom>
          <a:solidFill>
            <a:srgbClr val="F4F6F9"/>
          </a:solidFill>
          <a:ln>
            <a:solidFill>
              <a:srgbClr val="7F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D1B3A"/>
                </a:solidFill>
                <a:latin typeface="Segoe UI"/>
              </a:rPr>
              <a:t>KiaDynBC/NFMS: um único app AL no BC cobrindo do pricing à venda do usado, com comportamento por país (BR/AR) configurável — sem código novo para cada país.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D1B3A"/>
                </a:solidFill>
                <a:latin typeface="Segoe UI"/>
              </a:rPr>
              <a:t>8 domínios de negócio — ciclo completo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251460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7F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0D1B3A"/>
                </a:solidFill>
                <a:latin typeface="Segoe UI"/>
              </a:rPr>
              <a:t>D1 Manutenção</a:t>
            </a:r>
          </a:p>
          <a:p>
            <a:r>
              <a:rPr sz="1150">
                <a:solidFill>
                  <a:srgbClr val="444A55"/>
                </a:solidFill>
                <a:latin typeface="Segoe UI"/>
              </a:rPr>
              <a:t>tickets, planos, pool compartilhável, validação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1737360"/>
            <a:ext cx="251460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7F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0D1B3A"/>
                </a:solidFill>
                <a:latin typeface="Segoe UI"/>
              </a:rPr>
              <a:t>D2 Multas</a:t>
            </a:r>
          </a:p>
          <a:p>
            <a:r>
              <a:rPr sz="1150">
                <a:solidFill>
                  <a:srgbClr val="444A55"/>
                </a:solidFill>
                <a:latin typeface="Segoe UI"/>
              </a:rPr>
              <a:t>ingestão, vínculo por data, 3 valores, SNE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251460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7F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0D1B3A"/>
                </a:solidFill>
                <a:latin typeface="Segoe UI"/>
              </a:rPr>
              <a:t>D3 Serviço + Seguro</a:t>
            </a:r>
          </a:p>
          <a:p>
            <a:r>
              <a:rPr sz="1150">
                <a:solidFill>
                  <a:srgbClr val="444A55"/>
                </a:solidFill>
                <a:latin typeface="Segoe UI"/>
              </a:rPr>
              <a:t>tickets SAC, apólices, sinistro 5 trilhas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737360"/>
            <a:ext cx="251460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7F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0D1B3A"/>
                </a:solidFill>
                <a:latin typeface="Segoe UI"/>
              </a:rPr>
              <a:t>D4 Contratos</a:t>
            </a:r>
          </a:p>
          <a:p>
            <a:r>
              <a:rPr sz="1150">
                <a:solidFill>
                  <a:srgbClr val="444A55"/>
                </a:solidFill>
                <a:latin typeface="Segoe UI"/>
              </a:rPr>
              <a:t>aditivos, renegociação, renovação, change 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31920"/>
            <a:ext cx="251460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7F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0D1B3A"/>
                </a:solidFill>
                <a:latin typeface="Segoe UI"/>
              </a:rPr>
              <a:t>D5 Terminação</a:t>
            </a:r>
          </a:p>
          <a:p>
            <a:r>
              <a:rPr sz="1150">
                <a:solidFill>
                  <a:srgbClr val="444A55"/>
                </a:solidFill>
                <a:latin typeface="Segoe UI"/>
              </a:rPr>
              <a:t>devolução, recovery, substituição, settlement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3931920"/>
            <a:ext cx="251460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7F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0D1B3A"/>
                </a:solidFill>
                <a:latin typeface="Segoe UI"/>
              </a:rPr>
              <a:t>D6 Billing</a:t>
            </a:r>
          </a:p>
          <a:p>
            <a:r>
              <a:rPr sz="1150">
                <a:solidFill>
                  <a:srgbClr val="444A55"/>
                </a:solidFill>
                <a:latin typeface="Segoe UI"/>
              </a:rPr>
              <a:t>medição mensal, reajuste por índice, multas contratuais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251460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7F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0D1B3A"/>
                </a:solidFill>
                <a:latin typeface="Segoe UI"/>
              </a:rPr>
              <a:t>D7 Fleet Control</a:t>
            </a:r>
          </a:p>
          <a:p>
            <a:r>
              <a:rPr sz="1150">
                <a:solidFill>
                  <a:srgbClr val="444A55"/>
                </a:solidFill>
                <a:latin typeface="Segoe UI"/>
              </a:rPr>
              <a:t>ledger, telemática, apólices, fechamento mensal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3931920"/>
            <a:ext cx="251460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7F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0D1B3A"/>
                </a:solidFill>
                <a:latin typeface="Segoe UI"/>
              </a:rPr>
              <a:t>D8 Remarketing</a:t>
            </a:r>
          </a:p>
          <a:p>
            <a:r>
              <a:rPr sz="1150">
                <a:solidFill>
                  <a:srgbClr val="444A55"/>
                </a:solidFill>
                <a:latin typeface="Segoe UI"/>
              </a:rPr>
              <a:t>precificação, cascata de canais, portal seminovos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D1B3A"/>
                </a:solidFill>
                <a:latin typeface="Segoe UI"/>
              </a:rPr>
              <a:t>Arquitetura — um app, comportamento por país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D1B3A"/>
                </a:solidFill>
                <a:latin typeface="Segoe UI"/>
              </a:rPr>
              <a:t>Country Setup como âncora</a:t>
            </a:r>
            <a:r>
              <a:rPr sz="1600">
                <a:solidFill>
                  <a:srgbClr val="444A55"/>
                </a:solidFill>
                <a:latin typeface="Segoe UI"/>
              </a:rPr>
              <a:t>  — BR (guardião fora de contrato, SLA desmobilização, aging 60d) vs AR (frota em operação, fechamento VIN×placa); novo país = nova linha de config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D1B3A"/>
                </a:solidFill>
                <a:latin typeface="Segoe UI"/>
              </a:rPr>
              <a:t>Pricing engine próprio</a:t>
            </a:r>
            <a:r>
              <a:rPr sz="1600">
                <a:solidFill>
                  <a:srgbClr val="444A55"/>
                </a:solidFill>
                <a:latin typeface="Segoe UI"/>
              </a:rPr>
              <a:t>  — ROI alvo, goal seek, RV Matrix por modelo/km, cash flow por componente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D1B3A"/>
                </a:solidFill>
                <a:latin typeface="Segoe UI"/>
              </a:rPr>
              <a:t>Motor de billing versionado</a:t>
            </a:r>
            <a:r>
              <a:rPr sz="1600">
                <a:solidFill>
                  <a:srgbClr val="444A55"/>
                </a:solidFill>
                <a:latin typeface="Segoe UI"/>
              </a:rPr>
              <a:t>  — Condition ID por revisão, reajuste por índice com cap, idempotência por mês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D1B3A"/>
                </a:solidFill>
                <a:latin typeface="Segoe UI"/>
              </a:rPr>
              <a:t>Integração assíncrona</a:t>
            </a:r>
            <a:r>
              <a:rPr sz="1600">
                <a:solidFill>
                  <a:srgbClr val="444A55"/>
                </a:solidFill>
                <a:latin typeface="Segoe UI"/>
              </a:rPr>
              <a:t>  — Workflow Commands em fila + Portal Sync Entries com payload JSON e retry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D1B3A"/>
                </a:solidFill>
                <a:latin typeface="Segoe UI"/>
              </a:rPr>
              <a:t>APIs de integração</a:t>
            </a:r>
            <a:r>
              <a:rPr sz="1600">
                <a:solidFill>
                  <a:srgbClr val="444A55"/>
                </a:solidFill>
                <a:latin typeface="Segoe UI"/>
              </a:rPr>
              <a:t>  — Pricing Workflow API e páginas API para billing/contratos (consumo externo)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760720"/>
            <a:ext cx="3108960" cy="384048"/>
          </a:xfrm>
          <a:prstGeom prst="roundRect">
            <a:avLst/>
          </a:prstGeom>
          <a:solidFill>
            <a:srgbClr val="7F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D1B3A"/>
                </a:solidFill>
                <a:latin typeface="Segoe UI"/>
              </a:rPr>
              <a:t>74 tables · 118 pages · 36 codeunits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D1B3A"/>
                </a:solidFill>
                <a:latin typeface="Segoe UI"/>
              </a:rPr>
              <a:t>Qualidade — testes E2E automatizados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D1B3A"/>
                </a:solidFill>
                <a:latin typeface="Segoe UI"/>
              </a:rPr>
              <a:t>29 cenários E2E verdes</a:t>
            </a:r>
            <a:r>
              <a:rPr sz="1700">
                <a:solidFill>
                  <a:srgbClr val="444A55"/>
                </a:solidFill>
                <a:latin typeface="Segoe UI"/>
              </a:rPr>
              <a:t>  — pricing, contrato, billing, multas, manutenção, terminação, remarketing, device aging, D5, reajuste, sinistro, portal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D1B3A"/>
                </a:solidFill>
                <a:latin typeface="Segoe UI"/>
              </a:rPr>
              <a:t>App de testes separado</a:t>
            </a:r>
            <a:r>
              <a:rPr sz="1700">
                <a:solidFill>
                  <a:srgbClr val="444A55"/>
                </a:solidFill>
                <a:latin typeface="Segoe UI"/>
              </a:rPr>
              <a:t>  — Harness único usado por [Test] (CI) e runner manual na page de gestão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D1B3A"/>
                </a:solidFill>
                <a:latin typeface="Segoe UI"/>
              </a:rPr>
              <a:t>Demo Load determinístico</a:t>
            </a:r>
            <a:r>
              <a:rPr sz="1700">
                <a:solidFill>
                  <a:srgbClr val="444A55"/>
                </a:solidFill>
                <a:latin typeface="Segoe UI"/>
              </a:rPr>
              <a:t>  — 6 cenários de demonstração prontos para exibição comercial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D1B3A"/>
                </a:solidFill>
                <a:latin typeface="Segoe UI"/>
              </a:rPr>
              <a:t>Run All Tests em 1 clique</a:t>
            </a:r>
            <a:r>
              <a:rPr sz="1700">
                <a:solidFill>
                  <a:srgbClr val="444A55"/>
                </a:solidFill>
                <a:latin typeface="Segoe UI"/>
              </a:rPr>
              <a:t>  — resultado por cenário com duração e mensagem, log persistente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937760"/>
            <a:ext cx="10515600" cy="1188720"/>
          </a:xfrm>
          <a:prstGeom prst="roundRect">
            <a:avLst/>
          </a:prstGeom>
          <a:solidFill>
            <a:srgbClr val="F4F6F9"/>
          </a:solidFill>
          <a:ln>
            <a:solidFill>
              <a:srgbClr val="7F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D1B3A"/>
                </a:solidFill>
                <a:latin typeface="Segoe UI"/>
              </a:rPr>
              <a:t>Cada regra de negócio da especificação (RN-xxx) tem um cenário que a valida — regressão controlada a cada fase nova.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D1B3A"/>
                </a:solidFill>
                <a:latin typeface="Segoe UI"/>
              </a:rPr>
              <a:t>Estado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D1B3A"/>
                </a:solidFill>
                <a:latin typeface="Segoe UI"/>
              </a:rPr>
              <a:t>✅ Implementado e testado (26/10)</a:t>
            </a:r>
            <a:r>
              <a:rPr sz="1600">
                <a:solidFill>
                  <a:srgbClr val="444A55"/>
                </a:solidFill>
                <a:latin typeface="Segoe UI"/>
              </a:rPr>
              <a:t>  D1-D8 core + substituição/settlement + reajuste por índice + sinistro 5 trilhas + portal seminovos (3 touchpoints)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D1B3A"/>
                </a:solidFill>
                <a:latin typeface="Segoe UI"/>
              </a:rPr>
              <a:t>✅ Infra de qualidade</a:t>
            </a:r>
            <a:r>
              <a:rPr sz="1600">
                <a:solidFill>
                  <a:srgbClr val="444A55"/>
                </a:solidFill>
                <a:latin typeface="Segoe UI"/>
              </a:rPr>
              <a:t>  29 E2E + Demo Load + gestão de testes no app separado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D1B3A"/>
                </a:solidFill>
                <a:latin typeface="Segoe UI"/>
              </a:rPr>
              <a:t>⏳ Com o parceiro da localização</a:t>
            </a:r>
            <a:r>
              <a:rPr sz="1600">
                <a:solidFill>
                  <a:srgbClr val="444A55"/>
                </a:solidFill>
                <a:latin typeface="Segoe UI"/>
              </a:rPr>
              <a:t>  NF-e (emissão BR) — decisão conjunta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D1B3A"/>
                </a:solidFill>
                <a:latin typeface="Segoe UI"/>
              </a:rPr>
              <a:t>⏳ Novo projeto de integração bancária</a:t>
            </a:r>
            <a:r>
              <a:rPr sz="1600">
                <a:solidFill>
                  <a:srgbClr val="444A55"/>
                </a:solidFill>
                <a:latin typeface="Segoe UI"/>
              </a:rPr>
              <a:t>  CNAB Itaú — escopo separado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D1B3A"/>
                </a:solidFill>
                <a:latin typeface="Segoe UI"/>
              </a:rPr>
              <a:t>⏳ D9 Financeiro</a:t>
            </a:r>
            <a:r>
              <a:rPr sz="1600">
                <a:solidFill>
                  <a:srgbClr val="444A55"/>
                </a:solidFill>
                <a:latin typeface="Segoe UI"/>
              </a:rPr>
              <a:t>  contabilidade/ativo fixo — aguardando docs desprotegidos da KINTO (IRM)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D1B3A"/>
                </a:solidFill>
                <a:latin typeface="Segoe UI"/>
              </a:rPr>
              <a:t>⏳ Traduções pt-BR</a:t>
            </a:r>
            <a:r>
              <a:rPr sz="1600">
                <a:solidFill>
                  <a:srgbClr val="444A55"/>
                </a:solidFill>
                <a:latin typeface="Segoe UI"/>
              </a:rPr>
              <a:t>  regenerar .g.xlf e completar XLIFF (pipeline IA+humano)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Do pricing à venda do usado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7FD0D4"/>
                </a:solidFill>
                <a:latin typeface="Segoe UI"/>
              </a:rPr>
              <a:t>Um app AL. Dois países. 29 testes verdes.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2D4"/>
                </a:solidFill>
                <a:latin typeface="Segoe UI"/>
              </a:rPr>
              <a:t>RSBTech · Dynamics 365 Business Central · 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